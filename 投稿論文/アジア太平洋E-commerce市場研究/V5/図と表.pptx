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E0F3C-86A5-7E04-19A7-274AE3FE3E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C55956D-A92D-DCEC-A90F-71C8C5482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71A6B06-3C97-221C-096F-F689957B5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D3DCE5-9452-2EAE-9B25-2D3E53CCD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D133FA-3A57-8269-1040-411E01985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443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12DD84-26AC-0000-A163-866A03544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5AADB3-29E1-C606-32FC-45C4ABC9F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4FFB1D-FF7F-7A1A-3E66-9101468D7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C86FE1-AC45-CDE7-9779-F868E67B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2D5CDED-A2AB-67CA-EB1E-2FC49BD0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4446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8E27D7-C3BB-400A-26CE-40CAA56F8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8507E0-AEE9-AFB7-20D8-363E446741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CC5985D-E889-F817-860A-07E481375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887B92-0C36-7D1A-B728-C800E707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0D6B67D-ADF1-9414-9A69-2754D1D0F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6714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67D32-F073-9179-8E31-2582D5DEF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183681-E0E2-2B81-DB5B-CFF61CA694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857C6F1-1E72-0DCB-4A3F-00B1A5E531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B26673-3F97-F579-E225-1BAEDF2F1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C0FEAC-8FF6-3333-A132-80F905F04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E25AA36-D84E-7889-DAD7-4958F4BB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0745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C39FE-2222-2ADE-949C-FE80362CF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529EE73-E363-FF6B-9137-002DD74FC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B2C6188-6C23-F9DB-16BA-B79A2B73EB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3225C1D-C222-A965-9725-41153E03B5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EBF75A-DDE6-DF2F-1DF3-CAE3FB29F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7C3D989-4A02-81D1-8E71-5B43CF553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3F4E6AA-8FFD-7031-B2AF-CF459136D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33BF073-7B2C-3D41-1CA8-F3497776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3246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0B1EA1-0A1C-1BCA-1CD8-B7A08018D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3DB8CCAC-60C5-54FE-7221-EAB79C7FE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DC7866-FFBA-6C11-CA2F-B4435B04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818C7C2-3CB0-0D1B-E354-5FFA8438F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2011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49FA96F-4852-CCD8-B57D-213F0B5EC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CAEBF83-2417-99CE-4620-DA7768F3F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89AF2EB-4942-3BD6-ADF0-1EB8ED865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5756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A9A391-4C7B-7214-BF02-7DCEC829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0724BE4-CE46-F3E1-FF52-14FBE10BBF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16AFAC6-29DC-47A0-9AF0-29B56B584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98C9379-0624-E201-A8BB-0C76CC1EB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13572F-D6AA-8F81-873A-8258CAE7B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CABDA64-FAE6-D43A-0A58-DF89ED661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5891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FE6B688-9FA2-1C56-2B48-81048348E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7F975D1-5378-EAB3-491D-9EDC1EFD7E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9815D45-CD5F-3AC8-6C1D-8D1742878B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D7764BB-D944-22C4-7CCF-67DCC5324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A518D5-7173-AEF4-ED6B-D4029C7C0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CCA2DBB-03C9-B92A-8A0E-91832B530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2576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8651E5-1DC6-F12A-1EEF-6A667157B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06E41B-2B3A-F2D8-C14C-D95205DB4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2CC0226-6D21-8BDB-1C1D-7A56EE50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32A7127-68BD-D173-D6E2-7915377C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2453F0-0091-CF0B-B34F-5C21369AF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8190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FE89F0E-779E-BF4A-D387-E7A15D43D0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79F4B55-C6D8-6749-6924-F3AD4A1888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EAA1D59-A164-71BA-AE2B-C3BBA335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328993A-84AB-3EF8-FB40-7D5B4C0E2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F6F119A-9317-636E-A8B4-13A6CD000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0368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D6A056F-5DBD-2ED2-BEC2-FDB0E4DDE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7C6D5DD-958E-593A-E1A7-63EC501E4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4B8238B-6921-121E-4C29-45FD3703F9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70C85-4406-1D43-AA71-02D9E2BFBB6E}" type="datetimeFigureOut">
              <a:rPr kumimoji="1" lang="ja-JP" altLang="en-US" smtClean="0"/>
              <a:t>2025/11/23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6C7BA51-F0B8-856E-0631-C1675F812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1C0D68-8FA2-2182-EE6D-B9EE7EBDA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5417C-B89B-2F40-B5C6-CE36F12A1C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0982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57D6ACA-C9B3-0CDB-0311-527752F2AC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7620" cap="flat">
            <a:noFill/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659F720-C255-77CB-7D09-F0EC7782EB28}"/>
              </a:ext>
            </a:extLst>
          </p:cNvPr>
          <p:cNvSpPr txBox="1"/>
          <p:nvPr/>
        </p:nvSpPr>
        <p:spPr>
          <a:xfrm>
            <a:off x="4038287" y="218330"/>
            <a:ext cx="435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アジア太平洋</a:t>
            </a:r>
            <a:r>
              <a:rPr lang="ja-JP" altLang="en-US" b="1" spc="0" baseline="0">
                <a:ln/>
                <a:solidFill>
                  <a:srgbClr val="1A1A1A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E-commerce</a:t>
            </a:r>
            <a:r>
              <a:rPr lang="ja-JP" altLang="en-US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市場規模比較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2FF94F30-1DFC-DD83-AE88-29DE28C7BB64}"/>
              </a:ext>
            </a:extLst>
          </p:cNvPr>
          <p:cNvSpPr/>
          <p:nvPr/>
        </p:nvSpPr>
        <p:spPr>
          <a:xfrm>
            <a:off x="762000" y="914400"/>
            <a:ext cx="2286000" cy="457200"/>
          </a:xfrm>
          <a:prstGeom prst="rect">
            <a:avLst/>
          </a:prstGeom>
          <a:solidFill>
            <a:srgbClr val="1565C0"/>
          </a:solidFill>
          <a:ln w="15240" cap="flat">
            <a:solidFill>
              <a:srgbClr val="0D47A1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2B7742-F91E-1442-7245-226D5350B1EA}"/>
              </a:ext>
            </a:extLst>
          </p:cNvPr>
          <p:cNvSpPr/>
          <p:nvPr/>
        </p:nvSpPr>
        <p:spPr>
          <a:xfrm>
            <a:off x="3048000" y="914400"/>
            <a:ext cx="1905000" cy="457200"/>
          </a:xfrm>
          <a:prstGeom prst="rect">
            <a:avLst/>
          </a:prstGeom>
          <a:solidFill>
            <a:srgbClr val="1565C0"/>
          </a:solidFill>
          <a:ln w="15240" cap="flat">
            <a:solidFill>
              <a:srgbClr val="0D47A1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BD00CF7-3D99-22B3-8C76-4A2F25694EFD}"/>
              </a:ext>
            </a:extLst>
          </p:cNvPr>
          <p:cNvSpPr/>
          <p:nvPr/>
        </p:nvSpPr>
        <p:spPr>
          <a:xfrm>
            <a:off x="4953000" y="914400"/>
            <a:ext cx="1905000" cy="457200"/>
          </a:xfrm>
          <a:prstGeom prst="rect">
            <a:avLst/>
          </a:prstGeom>
          <a:solidFill>
            <a:srgbClr val="1565C0"/>
          </a:solidFill>
          <a:ln w="15240" cap="flat">
            <a:solidFill>
              <a:srgbClr val="0D47A1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83D66D6-EC3F-9DD0-8947-C10CE260755E}"/>
              </a:ext>
            </a:extLst>
          </p:cNvPr>
          <p:cNvSpPr/>
          <p:nvPr/>
        </p:nvSpPr>
        <p:spPr>
          <a:xfrm>
            <a:off x="6858000" y="914400"/>
            <a:ext cx="2286000" cy="457200"/>
          </a:xfrm>
          <a:prstGeom prst="rect">
            <a:avLst/>
          </a:prstGeom>
          <a:solidFill>
            <a:srgbClr val="1565C0"/>
          </a:solidFill>
          <a:ln w="15240" cap="flat">
            <a:solidFill>
              <a:srgbClr val="0D47A1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B56E2CF-0A1E-8AA2-B11D-6D175E9EABF6}"/>
              </a:ext>
            </a:extLst>
          </p:cNvPr>
          <p:cNvSpPr/>
          <p:nvPr/>
        </p:nvSpPr>
        <p:spPr>
          <a:xfrm>
            <a:off x="9144000" y="914400"/>
            <a:ext cx="2286000" cy="457200"/>
          </a:xfrm>
          <a:prstGeom prst="rect">
            <a:avLst/>
          </a:prstGeom>
          <a:solidFill>
            <a:srgbClr val="1565C0"/>
          </a:solidFill>
          <a:ln w="15240" cap="flat">
            <a:solidFill>
              <a:srgbClr val="0D47A1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2164C83-0BA5-7C1C-B1EB-DDA712142EEE}"/>
              </a:ext>
            </a:extLst>
          </p:cNvPr>
          <p:cNvSpPr txBox="1"/>
          <p:nvPr/>
        </p:nvSpPr>
        <p:spPr>
          <a:xfrm>
            <a:off x="1596390" y="1017508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市場層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D9B83B8-111C-0D50-8D4D-1CBAB02C72DA}"/>
              </a:ext>
            </a:extLst>
          </p:cNvPr>
          <p:cNvSpPr txBox="1"/>
          <p:nvPr/>
        </p:nvSpPr>
        <p:spPr>
          <a:xfrm>
            <a:off x="3672836" y="1011212"/>
            <a:ext cx="64633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国</a:t>
            </a:r>
            <a:r>
              <a:rPr lang="ja-JP" altLang="en-US" sz="1100" b="1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/</a:t>
            </a:r>
            <a:r>
              <a:rPr lang="ja-JP" altLang="en-US" sz="11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地域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7E400F-AD44-A566-EE41-5B331CAD0C77}"/>
              </a:ext>
            </a:extLst>
          </p:cNvPr>
          <p:cNvSpPr txBox="1"/>
          <p:nvPr/>
        </p:nvSpPr>
        <p:spPr>
          <a:xfrm>
            <a:off x="5299546" y="1011212"/>
            <a:ext cx="12041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2024</a:t>
            </a:r>
            <a:r>
              <a:rPr lang="ja-JP" altLang="en-US" sz="11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年市場規模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FDF539D-124E-C538-6D75-8A6700E980D8}"/>
              </a:ext>
            </a:extLst>
          </p:cNvPr>
          <p:cNvSpPr txBox="1"/>
          <p:nvPr/>
        </p:nvSpPr>
        <p:spPr>
          <a:xfrm>
            <a:off x="7475220" y="1017508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年平均成長率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A0FB5CDE-83A0-8EA2-612B-4C23C04AE3BF}"/>
              </a:ext>
            </a:extLst>
          </p:cNvPr>
          <p:cNvSpPr txBox="1"/>
          <p:nvPr/>
        </p:nvSpPr>
        <p:spPr>
          <a:xfrm>
            <a:off x="9833610" y="1017508"/>
            <a:ext cx="8899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1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世界シェア</a:t>
            </a:r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45D6E2A-70E6-4918-C049-F1456507DFF9}"/>
              </a:ext>
            </a:extLst>
          </p:cNvPr>
          <p:cNvSpPr/>
          <p:nvPr/>
        </p:nvSpPr>
        <p:spPr>
          <a:xfrm>
            <a:off x="762000" y="1371599"/>
            <a:ext cx="2286000" cy="1368415"/>
          </a:xfrm>
          <a:prstGeom prst="rect">
            <a:avLst/>
          </a:prstGeom>
          <a:solidFill>
            <a:srgbClr val="BBDEFB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D7F50690-4359-B7A1-FF2E-98204BD2485B}"/>
              </a:ext>
            </a:extLst>
          </p:cNvPr>
          <p:cNvSpPr/>
          <p:nvPr/>
        </p:nvSpPr>
        <p:spPr>
          <a:xfrm>
            <a:off x="3048000" y="1371600"/>
            <a:ext cx="1905000" cy="7620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C46A795-B76D-5758-D9A0-0B1B4A6CCF12}"/>
              </a:ext>
            </a:extLst>
          </p:cNvPr>
          <p:cNvSpPr/>
          <p:nvPr/>
        </p:nvSpPr>
        <p:spPr>
          <a:xfrm>
            <a:off x="4953000" y="1371600"/>
            <a:ext cx="1905000" cy="7620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EAB0603-D81F-0AA5-6380-BD902C89FA2C}"/>
              </a:ext>
            </a:extLst>
          </p:cNvPr>
          <p:cNvSpPr/>
          <p:nvPr/>
        </p:nvSpPr>
        <p:spPr>
          <a:xfrm>
            <a:off x="6858000" y="1371600"/>
            <a:ext cx="2286000" cy="7620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C8D4E5FD-9D3E-0885-BB64-294AF7747F84}"/>
              </a:ext>
            </a:extLst>
          </p:cNvPr>
          <p:cNvSpPr/>
          <p:nvPr/>
        </p:nvSpPr>
        <p:spPr>
          <a:xfrm>
            <a:off x="9144000" y="1371600"/>
            <a:ext cx="2286000" cy="7620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CF29E97E-426B-AD75-4908-A88CF6E1C1EB}"/>
              </a:ext>
            </a:extLst>
          </p:cNvPr>
          <p:cNvSpPr txBox="1"/>
          <p:nvPr/>
        </p:nvSpPr>
        <p:spPr>
          <a:xfrm>
            <a:off x="1611161" y="1832958"/>
            <a:ext cx="712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第</a:t>
            </a:r>
            <a:r>
              <a:rPr lang="ja-JP" altLang="en-US" sz="1600" b="1" spc="0" baseline="0">
                <a:ln/>
                <a:solidFill>
                  <a:srgbClr val="0D47A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1</a:t>
            </a:r>
            <a:r>
              <a:rPr lang="ja-JP" altLang="en-US" sz="16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層</a:t>
            </a: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205DFC68-2BD8-1E39-2F01-AB5AB6928AFC}"/>
              </a:ext>
            </a:extLst>
          </p:cNvPr>
          <p:cNvSpPr txBox="1"/>
          <p:nvPr/>
        </p:nvSpPr>
        <p:spPr>
          <a:xfrm>
            <a:off x="1508760" y="205664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spc="0" baseline="0">
                <a:ln/>
                <a:solidFill>
                  <a:srgbClr val="1565C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超成熟市場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4BF03D2-64B3-2A8F-4586-7D0847DDBD63}"/>
              </a:ext>
            </a:extLst>
          </p:cNvPr>
          <p:cNvSpPr txBox="1"/>
          <p:nvPr/>
        </p:nvSpPr>
        <p:spPr>
          <a:xfrm>
            <a:off x="3764280" y="16271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中国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65C85766-6A23-AC6E-B132-3B3AAEDBAEB4}"/>
              </a:ext>
            </a:extLst>
          </p:cNvPr>
          <p:cNvSpPr txBox="1"/>
          <p:nvPr/>
        </p:nvSpPr>
        <p:spPr>
          <a:xfrm>
            <a:off x="5388091" y="1530816"/>
            <a:ext cx="12939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1.8</a:t>
            </a:r>
            <a:r>
              <a:rPr lang="ja-JP" altLang="en-US" sz="16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兆米ドル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1993FB90-8DD8-47DF-6B51-121A46E2DE9E}"/>
              </a:ext>
            </a:extLst>
          </p:cNvPr>
          <p:cNvSpPr txBox="1"/>
          <p:nvPr/>
        </p:nvSpPr>
        <p:spPr>
          <a:xfrm>
            <a:off x="5533422" y="1769603"/>
            <a:ext cx="9124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cs typeface="Arial"/>
                <a:sym typeface="Arial"/>
                <a:rtl val="0"/>
              </a:rPr>
              <a:t>(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飽和に近い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B607344-C406-6236-045F-368E114B1513}"/>
              </a:ext>
            </a:extLst>
          </p:cNvPr>
          <p:cNvSpPr txBox="1"/>
          <p:nvPr/>
        </p:nvSpPr>
        <p:spPr>
          <a:xfrm>
            <a:off x="7689294" y="1607016"/>
            <a:ext cx="7777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8-10%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0F3DCB6-09C1-2F6B-2FC2-C80A8618156B}"/>
              </a:ext>
            </a:extLst>
          </p:cNvPr>
          <p:cNvSpPr txBox="1"/>
          <p:nvPr/>
        </p:nvSpPr>
        <p:spPr>
          <a:xfrm>
            <a:off x="9998548" y="1607016"/>
            <a:ext cx="7152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~50%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2B29C515-E705-71F8-DF3D-63D4AC70CF8B}"/>
              </a:ext>
            </a:extLst>
          </p:cNvPr>
          <p:cNvSpPr/>
          <p:nvPr/>
        </p:nvSpPr>
        <p:spPr>
          <a:xfrm>
            <a:off x="3048000" y="2133600"/>
            <a:ext cx="1905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AFED86B1-6040-9545-2906-1E2D27C7D63F}"/>
              </a:ext>
            </a:extLst>
          </p:cNvPr>
          <p:cNvSpPr/>
          <p:nvPr/>
        </p:nvSpPr>
        <p:spPr>
          <a:xfrm>
            <a:off x="4953000" y="2133600"/>
            <a:ext cx="1905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08979E9A-99BB-2722-5299-AF36B67729CE}"/>
              </a:ext>
            </a:extLst>
          </p:cNvPr>
          <p:cNvSpPr/>
          <p:nvPr/>
        </p:nvSpPr>
        <p:spPr>
          <a:xfrm>
            <a:off x="6858000" y="2133600"/>
            <a:ext cx="2286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64A5670E-17B6-3EC6-D45D-4A4A8E9F4B24}"/>
              </a:ext>
            </a:extLst>
          </p:cNvPr>
          <p:cNvSpPr/>
          <p:nvPr/>
        </p:nvSpPr>
        <p:spPr>
          <a:xfrm>
            <a:off x="9144000" y="2133600"/>
            <a:ext cx="2286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5552C056-46BC-F16A-83E6-15DAE1F3F0F5}"/>
              </a:ext>
            </a:extLst>
          </p:cNvPr>
          <p:cNvSpPr txBox="1"/>
          <p:nvPr/>
        </p:nvSpPr>
        <p:spPr>
          <a:xfrm>
            <a:off x="3764280" y="23129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韓国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2F1C3A0D-DC82-CB37-446B-06D6E491558F}"/>
              </a:ext>
            </a:extLst>
          </p:cNvPr>
          <p:cNvSpPr txBox="1"/>
          <p:nvPr/>
        </p:nvSpPr>
        <p:spPr>
          <a:xfrm>
            <a:off x="5425317" y="2306612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120</a:t>
            </a:r>
            <a:r>
              <a:rPr lang="ja-JP" altLang="en-US" sz="1400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億米ドル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49C120D-320D-5D44-4A8E-9D7913C25278}"/>
              </a:ext>
            </a:extLst>
          </p:cNvPr>
          <p:cNvSpPr txBox="1"/>
          <p:nvPr/>
        </p:nvSpPr>
        <p:spPr>
          <a:xfrm>
            <a:off x="7716410" y="2306612"/>
            <a:ext cx="6896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9-11%</a:t>
            </a: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B3FF6EE-C7BB-4AA5-C621-60FAFEE1D8A5}"/>
              </a:ext>
            </a:extLst>
          </p:cNvPr>
          <p:cNvSpPr txBox="1"/>
          <p:nvPr/>
        </p:nvSpPr>
        <p:spPr>
          <a:xfrm>
            <a:off x="10035461" y="2306612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2-3%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8012691F-8149-259B-8595-5CD35860DD8B}"/>
              </a:ext>
            </a:extLst>
          </p:cNvPr>
          <p:cNvSpPr/>
          <p:nvPr/>
        </p:nvSpPr>
        <p:spPr>
          <a:xfrm>
            <a:off x="762000" y="2743200"/>
            <a:ext cx="2286000" cy="609600"/>
          </a:xfrm>
          <a:prstGeom prst="rect">
            <a:avLst/>
          </a:prstGeom>
          <a:solidFill>
            <a:srgbClr val="90CAF9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1883B38-7B7B-2991-6B06-AC575626FB8A}"/>
              </a:ext>
            </a:extLst>
          </p:cNvPr>
          <p:cNvSpPr/>
          <p:nvPr/>
        </p:nvSpPr>
        <p:spPr>
          <a:xfrm>
            <a:off x="3048000" y="2743200"/>
            <a:ext cx="1905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E0E16EC3-D138-C742-151D-9D6C39CF81A7}"/>
              </a:ext>
            </a:extLst>
          </p:cNvPr>
          <p:cNvSpPr/>
          <p:nvPr/>
        </p:nvSpPr>
        <p:spPr>
          <a:xfrm>
            <a:off x="4953000" y="2743200"/>
            <a:ext cx="1905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3470FC33-B29F-8F1B-BF0B-F8183DAFD419}"/>
              </a:ext>
            </a:extLst>
          </p:cNvPr>
          <p:cNvSpPr/>
          <p:nvPr/>
        </p:nvSpPr>
        <p:spPr>
          <a:xfrm>
            <a:off x="6858000" y="2743200"/>
            <a:ext cx="2286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E61F60F-260B-1F72-1203-EA15E7E3F1DB}"/>
              </a:ext>
            </a:extLst>
          </p:cNvPr>
          <p:cNvSpPr/>
          <p:nvPr/>
        </p:nvSpPr>
        <p:spPr>
          <a:xfrm>
            <a:off x="9144000" y="2743200"/>
            <a:ext cx="2286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B09EA6A4-9E5E-D438-C52E-A331D89762E3}"/>
              </a:ext>
            </a:extLst>
          </p:cNvPr>
          <p:cNvSpPr txBox="1"/>
          <p:nvPr/>
        </p:nvSpPr>
        <p:spPr>
          <a:xfrm>
            <a:off x="1611161" y="2823553"/>
            <a:ext cx="712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第</a:t>
            </a:r>
            <a:r>
              <a:rPr lang="ja-JP" altLang="en-US" sz="1600" b="1" spc="0" baseline="0">
                <a:ln/>
                <a:solidFill>
                  <a:srgbClr val="0D47A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2</a:t>
            </a:r>
            <a:r>
              <a:rPr lang="ja-JP" altLang="en-US" sz="16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層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D0186A51-EB5D-EB34-C4BD-DE029FFA8952}"/>
              </a:ext>
            </a:extLst>
          </p:cNvPr>
          <p:cNvSpPr txBox="1"/>
          <p:nvPr/>
        </p:nvSpPr>
        <p:spPr>
          <a:xfrm>
            <a:off x="1569720" y="3009142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spc="0" baseline="0">
                <a:ln/>
                <a:solidFill>
                  <a:srgbClr val="1565C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成熟市場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653D2042-54A8-FC0A-BB4B-24EB0F959397}"/>
              </a:ext>
            </a:extLst>
          </p:cNvPr>
          <p:cNvSpPr txBox="1"/>
          <p:nvPr/>
        </p:nvSpPr>
        <p:spPr>
          <a:xfrm>
            <a:off x="3764280" y="29225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日本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20D88604-6B86-E3C1-A631-1C893EEC36A8}"/>
              </a:ext>
            </a:extLst>
          </p:cNvPr>
          <p:cNvSpPr txBox="1"/>
          <p:nvPr/>
        </p:nvSpPr>
        <p:spPr>
          <a:xfrm>
            <a:off x="5425317" y="2916212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220</a:t>
            </a:r>
            <a:r>
              <a:rPr lang="ja-JP" altLang="en-US" sz="1400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億米ドル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899BA0A1-5C33-13A8-04C6-1FE66C65B5DD}"/>
              </a:ext>
            </a:extLst>
          </p:cNvPr>
          <p:cNvSpPr txBox="1"/>
          <p:nvPr/>
        </p:nvSpPr>
        <p:spPr>
          <a:xfrm>
            <a:off x="7749461" y="2916212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6-8%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60070DDE-DB58-B29D-A963-7FBFFBCE6AAE}"/>
              </a:ext>
            </a:extLst>
          </p:cNvPr>
          <p:cNvSpPr txBox="1"/>
          <p:nvPr/>
        </p:nvSpPr>
        <p:spPr>
          <a:xfrm>
            <a:off x="10035461" y="2916212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4-5%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9E991384-FFE9-6DA3-6D50-6169B2F6737C}"/>
              </a:ext>
            </a:extLst>
          </p:cNvPr>
          <p:cNvSpPr/>
          <p:nvPr/>
        </p:nvSpPr>
        <p:spPr>
          <a:xfrm>
            <a:off x="762000" y="3352800"/>
            <a:ext cx="2286000" cy="609600"/>
          </a:xfrm>
          <a:prstGeom prst="rect">
            <a:avLst/>
          </a:prstGeom>
          <a:solidFill>
            <a:srgbClr val="64B5F6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262A6A2-8986-568C-EAD8-106CAAB394AE}"/>
              </a:ext>
            </a:extLst>
          </p:cNvPr>
          <p:cNvSpPr/>
          <p:nvPr/>
        </p:nvSpPr>
        <p:spPr>
          <a:xfrm>
            <a:off x="3048000" y="3352800"/>
            <a:ext cx="1905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08159330-1725-A431-8C03-E0E0BE97AEA7}"/>
              </a:ext>
            </a:extLst>
          </p:cNvPr>
          <p:cNvSpPr/>
          <p:nvPr/>
        </p:nvSpPr>
        <p:spPr>
          <a:xfrm>
            <a:off x="4953000" y="3352800"/>
            <a:ext cx="1905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2DA36ED2-CDDC-2F78-3FFC-FCA129C9EA8F}"/>
              </a:ext>
            </a:extLst>
          </p:cNvPr>
          <p:cNvSpPr/>
          <p:nvPr/>
        </p:nvSpPr>
        <p:spPr>
          <a:xfrm>
            <a:off x="6858000" y="3352800"/>
            <a:ext cx="2286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07ECCCB-EFC0-3F75-5F72-0521710F4097}"/>
              </a:ext>
            </a:extLst>
          </p:cNvPr>
          <p:cNvSpPr/>
          <p:nvPr/>
        </p:nvSpPr>
        <p:spPr>
          <a:xfrm>
            <a:off x="9144000" y="3352800"/>
            <a:ext cx="2286000" cy="6096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BE10FF9A-4F89-3DE0-4BDF-9B5AF7A825D8}"/>
              </a:ext>
            </a:extLst>
          </p:cNvPr>
          <p:cNvSpPr txBox="1"/>
          <p:nvPr/>
        </p:nvSpPr>
        <p:spPr>
          <a:xfrm>
            <a:off x="1611161" y="3433153"/>
            <a:ext cx="712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第</a:t>
            </a:r>
            <a:r>
              <a:rPr lang="ja-JP" altLang="en-US" sz="1600" b="1" spc="0" baseline="0">
                <a:ln/>
                <a:solidFill>
                  <a:srgbClr val="0D47A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3</a:t>
            </a:r>
            <a:r>
              <a:rPr lang="ja-JP" altLang="en-US" sz="16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層</a:t>
            </a:r>
          </a:p>
        </p:txBody>
      </p: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23A6DD28-AE86-81C8-BB44-EF960CBA82AC}"/>
              </a:ext>
            </a:extLst>
          </p:cNvPr>
          <p:cNvSpPr txBox="1"/>
          <p:nvPr/>
        </p:nvSpPr>
        <p:spPr>
          <a:xfrm>
            <a:off x="1508760" y="3618742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spc="0" baseline="0">
                <a:ln/>
                <a:solidFill>
                  <a:srgbClr val="1565C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急成長市場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E97D63A1-93F0-E911-3F5F-B51B46E51DE8}"/>
              </a:ext>
            </a:extLst>
          </p:cNvPr>
          <p:cNvSpPr txBox="1"/>
          <p:nvPr/>
        </p:nvSpPr>
        <p:spPr>
          <a:xfrm>
            <a:off x="3691890" y="353210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インド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536EF56-C77C-6972-6E3F-6AF437FAA07E}"/>
              </a:ext>
            </a:extLst>
          </p:cNvPr>
          <p:cNvSpPr txBox="1"/>
          <p:nvPr/>
        </p:nvSpPr>
        <p:spPr>
          <a:xfrm>
            <a:off x="5430407" y="3525812"/>
            <a:ext cx="11881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110</a:t>
            </a:r>
            <a:r>
              <a:rPr lang="ja-JP" altLang="en-US" sz="1400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億米ドル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8A26CF08-733C-5C24-A3D9-E8B24D4854C7}"/>
              </a:ext>
            </a:extLst>
          </p:cNvPr>
          <p:cNvSpPr txBox="1"/>
          <p:nvPr/>
        </p:nvSpPr>
        <p:spPr>
          <a:xfrm>
            <a:off x="7673180" y="3525812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20-25%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074D5416-1638-DF69-DEAD-3514B3DA53C6}"/>
              </a:ext>
            </a:extLst>
          </p:cNvPr>
          <p:cNvSpPr txBox="1"/>
          <p:nvPr/>
        </p:nvSpPr>
        <p:spPr>
          <a:xfrm>
            <a:off x="10035461" y="3525812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2-3%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E28D588A-FBB1-09DA-0C2C-CCAC7A62C59C}"/>
              </a:ext>
            </a:extLst>
          </p:cNvPr>
          <p:cNvSpPr/>
          <p:nvPr/>
        </p:nvSpPr>
        <p:spPr>
          <a:xfrm>
            <a:off x="762000" y="3962400"/>
            <a:ext cx="2286000" cy="762000"/>
          </a:xfrm>
          <a:prstGeom prst="rect">
            <a:avLst/>
          </a:prstGeom>
          <a:solidFill>
            <a:srgbClr val="42A5F5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647814C5-314D-2F1B-AB20-A3620090BBC4}"/>
              </a:ext>
            </a:extLst>
          </p:cNvPr>
          <p:cNvSpPr/>
          <p:nvPr/>
        </p:nvSpPr>
        <p:spPr>
          <a:xfrm>
            <a:off x="3048000" y="3962400"/>
            <a:ext cx="1905000" cy="7620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DCDB9679-B68D-32CD-EA0E-1236A0D1E0EF}"/>
              </a:ext>
            </a:extLst>
          </p:cNvPr>
          <p:cNvSpPr/>
          <p:nvPr/>
        </p:nvSpPr>
        <p:spPr>
          <a:xfrm>
            <a:off x="4953000" y="3962400"/>
            <a:ext cx="1905000" cy="7620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2B8683B2-3E69-0032-4A46-6DD13CD98C52}"/>
              </a:ext>
            </a:extLst>
          </p:cNvPr>
          <p:cNvSpPr/>
          <p:nvPr/>
        </p:nvSpPr>
        <p:spPr>
          <a:xfrm>
            <a:off x="6858000" y="3962400"/>
            <a:ext cx="2286000" cy="7620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97E6273-0983-6EA3-4254-0DD3723F1B61}"/>
              </a:ext>
            </a:extLst>
          </p:cNvPr>
          <p:cNvSpPr/>
          <p:nvPr/>
        </p:nvSpPr>
        <p:spPr>
          <a:xfrm>
            <a:off x="9144000" y="3962400"/>
            <a:ext cx="2286000" cy="7620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DBC70FF2-9399-F97A-4EA3-E2ED5634BB56}"/>
              </a:ext>
            </a:extLst>
          </p:cNvPr>
          <p:cNvSpPr txBox="1"/>
          <p:nvPr/>
        </p:nvSpPr>
        <p:spPr>
          <a:xfrm>
            <a:off x="1611161" y="4083516"/>
            <a:ext cx="7120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第</a:t>
            </a:r>
            <a:r>
              <a:rPr lang="ja-JP" altLang="en-US" sz="1600" b="1" spc="0" baseline="0">
                <a:ln/>
                <a:solidFill>
                  <a:srgbClr val="0D47A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4</a:t>
            </a:r>
            <a:r>
              <a:rPr lang="ja-JP" altLang="en-US" sz="16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層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A23EDA2-5F50-12D6-0AA4-560A3C097F34}"/>
              </a:ext>
            </a:extLst>
          </p:cNvPr>
          <p:cNvSpPr txBox="1"/>
          <p:nvPr/>
        </p:nvSpPr>
        <p:spPr>
          <a:xfrm>
            <a:off x="1569720" y="430720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spc="0" baseline="0">
                <a:ln/>
                <a:solidFill>
                  <a:srgbClr val="1565C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新興市場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2E773D4E-DD58-21B6-EE64-86B27E30E701}"/>
              </a:ext>
            </a:extLst>
          </p:cNvPr>
          <p:cNvSpPr txBox="1"/>
          <p:nvPr/>
        </p:nvSpPr>
        <p:spPr>
          <a:xfrm>
            <a:off x="3547110" y="4065508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東南アジア</a:t>
            </a:r>
          </a:p>
        </p:txBody>
      </p:sp>
      <p:sp>
        <p:nvSpPr>
          <p:cNvPr id="70" name="テキスト ボックス 69">
            <a:extLst>
              <a:ext uri="{FF2B5EF4-FFF2-40B4-BE49-F238E27FC236}">
                <a16:creationId xmlns:a16="http://schemas.microsoft.com/office/drawing/2014/main" id="{9423E39C-7C6A-DF7B-22B7-E2EF747DCF5A}"/>
              </a:ext>
            </a:extLst>
          </p:cNvPr>
          <p:cNvSpPr txBox="1"/>
          <p:nvPr/>
        </p:nvSpPr>
        <p:spPr>
          <a:xfrm>
            <a:off x="3664118" y="4284203"/>
            <a:ext cx="81785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cs typeface="Arial"/>
                <a:sym typeface="Arial"/>
                <a:rtl val="0"/>
              </a:rPr>
              <a:t>(ASEAN-6)</a:t>
            </a:r>
          </a:p>
        </p:txBody>
      </p:sp>
      <p:sp>
        <p:nvSpPr>
          <p:cNvPr id="71" name="テキスト ボックス 70">
            <a:extLst>
              <a:ext uri="{FF2B5EF4-FFF2-40B4-BE49-F238E27FC236}">
                <a16:creationId xmlns:a16="http://schemas.microsoft.com/office/drawing/2014/main" id="{4628BCB9-167D-B2D6-449B-3F619BEEC2CF}"/>
              </a:ext>
            </a:extLst>
          </p:cNvPr>
          <p:cNvSpPr txBox="1"/>
          <p:nvPr/>
        </p:nvSpPr>
        <p:spPr>
          <a:xfrm>
            <a:off x="5425317" y="4097312"/>
            <a:ext cx="12009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130</a:t>
            </a:r>
            <a:r>
              <a:rPr lang="ja-JP" altLang="en-US" sz="1400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億米ドル</a:t>
            </a:r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527A1063-776E-4DD8-C73C-8DBE018B28C8}"/>
              </a:ext>
            </a:extLst>
          </p:cNvPr>
          <p:cNvSpPr txBox="1"/>
          <p:nvPr/>
        </p:nvSpPr>
        <p:spPr>
          <a:xfrm>
            <a:off x="5582952" y="4322303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cs typeface="Arial"/>
                <a:sym typeface="Arial"/>
                <a:rtl val="0"/>
              </a:rPr>
              <a:t>(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急拡大中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73" name="テキスト ボックス 72">
            <a:extLst>
              <a:ext uri="{FF2B5EF4-FFF2-40B4-BE49-F238E27FC236}">
                <a16:creationId xmlns:a16="http://schemas.microsoft.com/office/drawing/2014/main" id="{F31B351D-6CB8-07AD-2208-432FA79EF3A5}"/>
              </a:ext>
            </a:extLst>
          </p:cNvPr>
          <p:cNvSpPr txBox="1"/>
          <p:nvPr/>
        </p:nvSpPr>
        <p:spPr>
          <a:xfrm>
            <a:off x="7673180" y="4173512"/>
            <a:ext cx="8018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15-20%</a:t>
            </a:r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A4B36A85-9F5C-1213-E76D-E5D8378D7F39}"/>
              </a:ext>
            </a:extLst>
          </p:cNvPr>
          <p:cNvSpPr txBox="1"/>
          <p:nvPr/>
        </p:nvSpPr>
        <p:spPr>
          <a:xfrm>
            <a:off x="10035461" y="4173512"/>
            <a:ext cx="603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3-4%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22E2F418-D4A5-19F3-5B5D-95E471DB13B3}"/>
              </a:ext>
            </a:extLst>
          </p:cNvPr>
          <p:cNvSpPr/>
          <p:nvPr/>
        </p:nvSpPr>
        <p:spPr>
          <a:xfrm>
            <a:off x="762000" y="4724400"/>
            <a:ext cx="2286000" cy="609600"/>
          </a:xfrm>
          <a:prstGeom prst="rect">
            <a:avLst/>
          </a:prstGeom>
          <a:solidFill>
            <a:srgbClr val="263238"/>
          </a:solidFill>
          <a:ln w="1524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B1857FBC-E9E8-6556-5108-D0990889C661}"/>
              </a:ext>
            </a:extLst>
          </p:cNvPr>
          <p:cNvSpPr/>
          <p:nvPr/>
        </p:nvSpPr>
        <p:spPr>
          <a:xfrm>
            <a:off x="3048000" y="4724400"/>
            <a:ext cx="1905000" cy="6096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AB98A27C-2402-86B4-B770-8ED67E591E0A}"/>
              </a:ext>
            </a:extLst>
          </p:cNvPr>
          <p:cNvSpPr/>
          <p:nvPr/>
        </p:nvSpPr>
        <p:spPr>
          <a:xfrm>
            <a:off x="4953000" y="4724400"/>
            <a:ext cx="1905000" cy="6096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8B7C37BB-BB64-9D18-6F45-33BF5BB4AB49}"/>
              </a:ext>
            </a:extLst>
          </p:cNvPr>
          <p:cNvSpPr/>
          <p:nvPr/>
        </p:nvSpPr>
        <p:spPr>
          <a:xfrm>
            <a:off x="6858000" y="4724400"/>
            <a:ext cx="2286000" cy="6096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7C57669E-833C-2B9A-8DE8-FCCBA7D0A008}"/>
              </a:ext>
            </a:extLst>
          </p:cNvPr>
          <p:cNvSpPr/>
          <p:nvPr/>
        </p:nvSpPr>
        <p:spPr>
          <a:xfrm>
            <a:off x="9144000" y="4724400"/>
            <a:ext cx="2286000" cy="6096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B8CB7B64-9931-5CBB-6B3F-F1E6AB21072B}"/>
              </a:ext>
            </a:extLst>
          </p:cNvPr>
          <p:cNvSpPr txBox="1"/>
          <p:nvPr/>
        </p:nvSpPr>
        <p:spPr>
          <a:xfrm>
            <a:off x="1333500" y="4890611"/>
            <a:ext cx="14221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アジア太平洋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3DE3AC4E-5DED-6693-3BA2-48D3D01CD304}"/>
              </a:ext>
            </a:extLst>
          </p:cNvPr>
          <p:cNvSpPr txBox="1"/>
          <p:nvPr/>
        </p:nvSpPr>
        <p:spPr>
          <a:xfrm>
            <a:off x="1691640" y="5069205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合計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FB5CC9A8-70F2-F074-9182-5D9CCD724224}"/>
              </a:ext>
            </a:extLst>
          </p:cNvPr>
          <p:cNvSpPr txBox="1"/>
          <p:nvPr/>
        </p:nvSpPr>
        <p:spPr>
          <a:xfrm>
            <a:off x="3840480" y="4897412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—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2219A896-60B9-12F4-26A1-60BF5263FB3D}"/>
              </a:ext>
            </a:extLst>
          </p:cNvPr>
          <p:cNvSpPr txBox="1"/>
          <p:nvPr/>
        </p:nvSpPr>
        <p:spPr>
          <a:xfrm>
            <a:off x="5345712" y="4883616"/>
            <a:ext cx="1407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2.90</a:t>
            </a:r>
            <a:r>
              <a:rPr lang="ja-JP" altLang="en-US" sz="160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兆米ドル</a:t>
            </a:r>
          </a:p>
        </p:txBody>
      </p: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9387D619-846D-397E-737C-5816D54F2996}"/>
              </a:ext>
            </a:extLst>
          </p:cNvPr>
          <p:cNvSpPr txBox="1"/>
          <p:nvPr/>
        </p:nvSpPr>
        <p:spPr>
          <a:xfrm>
            <a:off x="7693498" y="4883616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12.8%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84B1C691-D777-DA15-CE4A-86324456DEC7}"/>
              </a:ext>
            </a:extLst>
          </p:cNvPr>
          <p:cNvSpPr txBox="1"/>
          <p:nvPr/>
        </p:nvSpPr>
        <p:spPr>
          <a:xfrm>
            <a:off x="9979498" y="4883616"/>
            <a:ext cx="7665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600" b="1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38.5%</a:t>
            </a:r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E1418185-7F68-EC56-4704-26727D211DB4}"/>
              </a:ext>
            </a:extLst>
          </p:cNvPr>
          <p:cNvSpPr txBox="1"/>
          <p:nvPr/>
        </p:nvSpPr>
        <p:spPr>
          <a:xfrm>
            <a:off x="769991" y="5564226"/>
            <a:ext cx="45849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注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1: 2024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年時点の推定値。中国の市場規模は単独で世界の約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50%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を占める。</a:t>
            </a:r>
          </a:p>
        </p:txBody>
      </p:sp>
      <p:sp>
        <p:nvSpPr>
          <p:cNvPr id="87" name="テキスト ボックス 86">
            <a:extLst>
              <a:ext uri="{FF2B5EF4-FFF2-40B4-BE49-F238E27FC236}">
                <a16:creationId xmlns:a16="http://schemas.microsoft.com/office/drawing/2014/main" id="{DAB77BDC-34F7-E720-1FC3-7AC65CCE5C7B}"/>
              </a:ext>
            </a:extLst>
          </p:cNvPr>
          <p:cNvSpPr txBox="1"/>
          <p:nvPr/>
        </p:nvSpPr>
        <p:spPr>
          <a:xfrm>
            <a:off x="769991" y="5754726"/>
            <a:ext cx="57647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注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2: 2034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年までにアジア太平洋市場は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9.67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兆米ドルに達すると予測される（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eMarketer, 2023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）。</a:t>
            </a:r>
          </a:p>
        </p:txBody>
      </p:sp>
      <p:sp>
        <p:nvSpPr>
          <p:cNvPr id="88" name="テキスト ボックス 87">
            <a:extLst>
              <a:ext uri="{FF2B5EF4-FFF2-40B4-BE49-F238E27FC236}">
                <a16:creationId xmlns:a16="http://schemas.microsoft.com/office/drawing/2014/main" id="{A4507C2C-D798-A4D9-A4E3-91879A4C9B7A}"/>
              </a:ext>
            </a:extLst>
          </p:cNvPr>
          <p:cNvSpPr txBox="1"/>
          <p:nvPr/>
        </p:nvSpPr>
        <p:spPr>
          <a:xfrm>
            <a:off x="769991" y="5945226"/>
            <a:ext cx="531267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注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3: 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成長率は市場成熟度によって顕著な差異を示す（超成熟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8-10% vs 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急成長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20-25%</a:t>
            </a:r>
            <a:r>
              <a:rPr lang="ja-JP" altLang="en-US" sz="10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）。</a:t>
            </a:r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CBB28465-3054-A455-BC31-8CD8F74D0887}"/>
              </a:ext>
            </a:extLst>
          </p:cNvPr>
          <p:cNvSpPr txBox="1"/>
          <p:nvPr/>
        </p:nvSpPr>
        <p:spPr>
          <a:xfrm>
            <a:off x="769991" y="6333124"/>
            <a:ext cx="46025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i="1" spc="0" baseline="0">
                <a:ln/>
                <a:solidFill>
                  <a:srgbClr val="757575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出典</a:t>
            </a:r>
            <a:r>
              <a:rPr lang="ja-JP" altLang="en-US" sz="900" i="1" spc="0" baseline="0">
                <a:ln/>
                <a:solidFill>
                  <a:srgbClr val="757575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: eMarketer (2023), Grand View Research (2023), </a:t>
            </a:r>
            <a:r>
              <a:rPr lang="ja-JP" altLang="en-US" sz="900" i="1" spc="0" baseline="0">
                <a:ln/>
                <a:solidFill>
                  <a:srgbClr val="757575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各国統計局データより筆者作成</a:t>
            </a:r>
          </a:p>
        </p:txBody>
      </p:sp>
    </p:spTree>
    <p:extLst>
      <p:ext uri="{BB962C8B-B14F-4D97-AF65-F5344CB8AC3E}">
        <p14:creationId xmlns:p14="http://schemas.microsoft.com/office/powerpoint/2010/main" val="2947972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A9A4E8A2-0F1D-6CA6-A6C7-13FEC468E0A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9FA"/>
          </a:solidFill>
          <a:ln w="7620" cap="flat">
            <a:noFill/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91DCA1E-E189-88FE-BC27-110E9466745C}"/>
              </a:ext>
            </a:extLst>
          </p:cNvPr>
          <p:cNvSpPr txBox="1"/>
          <p:nvPr/>
        </p:nvSpPr>
        <p:spPr>
          <a:xfrm>
            <a:off x="4789170" y="151923"/>
            <a:ext cx="2741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ケース選択マトリックス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5E6B47C-5894-1C8F-798F-803196E8B6D8}"/>
              </a:ext>
            </a:extLst>
          </p:cNvPr>
          <p:cNvSpPr/>
          <p:nvPr/>
        </p:nvSpPr>
        <p:spPr>
          <a:xfrm>
            <a:off x="381000" y="762000"/>
            <a:ext cx="1524000" cy="5334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263238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919841F-58B9-954F-524A-32E9A38BF6E6}"/>
              </a:ext>
            </a:extLst>
          </p:cNvPr>
          <p:cNvSpPr/>
          <p:nvPr/>
        </p:nvSpPr>
        <p:spPr>
          <a:xfrm>
            <a:off x="1905000" y="762000"/>
            <a:ext cx="2286000" cy="5334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263238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259874B-9E8B-CAEE-CDAC-C1AA47DA736B}"/>
              </a:ext>
            </a:extLst>
          </p:cNvPr>
          <p:cNvSpPr/>
          <p:nvPr/>
        </p:nvSpPr>
        <p:spPr>
          <a:xfrm>
            <a:off x="4191000" y="762000"/>
            <a:ext cx="2286000" cy="5334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263238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C831820-42E3-2D3D-DB3B-A9E1C3B0713B}"/>
              </a:ext>
            </a:extLst>
          </p:cNvPr>
          <p:cNvSpPr/>
          <p:nvPr/>
        </p:nvSpPr>
        <p:spPr>
          <a:xfrm>
            <a:off x="6477000" y="762000"/>
            <a:ext cx="2667000" cy="5334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263238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A6E696D-EEC2-5FDD-301E-7E4152018AFF}"/>
              </a:ext>
            </a:extLst>
          </p:cNvPr>
          <p:cNvSpPr/>
          <p:nvPr/>
        </p:nvSpPr>
        <p:spPr>
          <a:xfrm>
            <a:off x="9144000" y="762000"/>
            <a:ext cx="2667000" cy="533400"/>
          </a:xfrm>
          <a:prstGeom prst="rect">
            <a:avLst/>
          </a:prstGeom>
          <a:solidFill>
            <a:srgbClr val="37474F"/>
          </a:solidFill>
          <a:ln w="15240" cap="flat">
            <a:solidFill>
              <a:srgbClr val="263238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F0CB9D5-B228-F03D-5D98-541E5B210965}"/>
              </a:ext>
            </a:extLst>
          </p:cNvPr>
          <p:cNvSpPr txBox="1"/>
          <p:nvPr/>
        </p:nvSpPr>
        <p:spPr>
          <a:xfrm>
            <a:off x="857250" y="802005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市場層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52990EC1-298B-CD99-8C77-0E2CE13232AF}"/>
              </a:ext>
            </a:extLst>
          </p:cNvPr>
          <p:cNvSpPr txBox="1"/>
          <p:nvPr/>
        </p:nvSpPr>
        <p:spPr>
          <a:xfrm>
            <a:off x="856014" y="1000705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(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成熟度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3AA7AF83-DE95-984D-5807-DB2546383E59}"/>
              </a:ext>
            </a:extLst>
          </p:cNvPr>
          <p:cNvSpPr txBox="1"/>
          <p:nvPr/>
        </p:nvSpPr>
        <p:spPr>
          <a:xfrm>
            <a:off x="2697480" y="80200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対象市場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B983FC3-17DE-6B46-EE05-50C6506B192A}"/>
              </a:ext>
            </a:extLst>
          </p:cNvPr>
          <p:cNvSpPr txBox="1"/>
          <p:nvPr/>
        </p:nvSpPr>
        <p:spPr>
          <a:xfrm>
            <a:off x="2746195" y="1000705"/>
            <a:ext cx="6399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(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国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/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地域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B783913-7E44-0D0C-ABC2-A6AD3161E32F}"/>
              </a:ext>
            </a:extLst>
          </p:cNvPr>
          <p:cNvSpPr txBox="1"/>
          <p:nvPr/>
        </p:nvSpPr>
        <p:spPr>
          <a:xfrm>
            <a:off x="4983480" y="80200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選定企業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8FF4BE8-FAF1-DF2D-FB79-E6E854F38DAC}"/>
              </a:ext>
            </a:extLst>
          </p:cNvPr>
          <p:cNvSpPr txBox="1"/>
          <p:nvPr/>
        </p:nvSpPr>
        <p:spPr>
          <a:xfrm>
            <a:off x="4780314" y="1000705"/>
            <a:ext cx="118494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(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プラットフォーム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0D9D9EE-4E37-D004-E26D-AFC9BE2C443A}"/>
              </a:ext>
            </a:extLst>
          </p:cNvPr>
          <p:cNvSpPr txBox="1"/>
          <p:nvPr/>
        </p:nvSpPr>
        <p:spPr>
          <a:xfrm>
            <a:off x="7330440" y="802005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戦略パターン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6DDF946-8458-DDF5-3FFC-36907554D909}"/>
              </a:ext>
            </a:extLst>
          </p:cNvPr>
          <p:cNvSpPr txBox="1"/>
          <p:nvPr/>
        </p:nvSpPr>
        <p:spPr>
          <a:xfrm>
            <a:off x="7576854" y="1000705"/>
            <a:ext cx="4924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(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分類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FC0595AA-3E18-294F-34E5-F4BAF22D353A}"/>
              </a:ext>
            </a:extLst>
          </p:cNvPr>
          <p:cNvSpPr txBox="1"/>
          <p:nvPr/>
        </p:nvSpPr>
        <p:spPr>
          <a:xfrm>
            <a:off x="10126980" y="80200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 b="1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sym typeface="ＭＳ ゴシック"/>
                <a:rtl val="0"/>
              </a:rPr>
              <a:t>選定理由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C6BD33E-A077-DDF3-08D5-3A7BB7B6316C}"/>
              </a:ext>
            </a:extLst>
          </p:cNvPr>
          <p:cNvSpPr txBox="1"/>
          <p:nvPr/>
        </p:nvSpPr>
        <p:spPr>
          <a:xfrm>
            <a:off x="10190514" y="1000705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cs typeface="Arial"/>
                <a:sym typeface="Arial"/>
                <a:rtl val="0"/>
              </a:rPr>
              <a:t>(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代表性</a:t>
            </a:r>
            <a:r>
              <a:rPr lang="ja-JP" altLang="en-US" sz="900" spc="0" baseline="0">
                <a:ln/>
                <a:solidFill>
                  <a:srgbClr val="FFFFFF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)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CED8E85-83DC-A16B-830F-D329054687E7}"/>
              </a:ext>
            </a:extLst>
          </p:cNvPr>
          <p:cNvSpPr/>
          <p:nvPr/>
        </p:nvSpPr>
        <p:spPr>
          <a:xfrm>
            <a:off x="381000" y="1295400"/>
            <a:ext cx="1524000" cy="1828800"/>
          </a:xfrm>
          <a:prstGeom prst="rect">
            <a:avLst/>
          </a:prstGeom>
          <a:solidFill>
            <a:srgbClr val="BBDEFB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484BAA4-E6DB-F40D-EA14-217C2DE81326}"/>
              </a:ext>
            </a:extLst>
          </p:cNvPr>
          <p:cNvSpPr/>
          <p:nvPr/>
        </p:nvSpPr>
        <p:spPr>
          <a:xfrm>
            <a:off x="1905000" y="12954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19934C27-5208-1F06-D21F-6C2CCC4BD5FA}"/>
              </a:ext>
            </a:extLst>
          </p:cNvPr>
          <p:cNvSpPr/>
          <p:nvPr/>
        </p:nvSpPr>
        <p:spPr>
          <a:xfrm>
            <a:off x="4191000" y="12954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BB40C8A8-2454-0EB2-2A31-A0AEE4D353BB}"/>
              </a:ext>
            </a:extLst>
          </p:cNvPr>
          <p:cNvSpPr/>
          <p:nvPr/>
        </p:nvSpPr>
        <p:spPr>
          <a:xfrm>
            <a:off x="6477000" y="12954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81C27C85-8114-F8A4-019E-4B131E079FDC}"/>
              </a:ext>
            </a:extLst>
          </p:cNvPr>
          <p:cNvSpPr/>
          <p:nvPr/>
        </p:nvSpPr>
        <p:spPr>
          <a:xfrm>
            <a:off x="9144000" y="12954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 sz="1400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C9B4C0F2-85C8-A7EB-4455-B8131B33ECF8}"/>
              </a:ext>
            </a:extLst>
          </p:cNvPr>
          <p:cNvSpPr txBox="1"/>
          <p:nvPr/>
        </p:nvSpPr>
        <p:spPr>
          <a:xfrm>
            <a:off x="846032" y="1986811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第</a:t>
            </a:r>
            <a:r>
              <a:rPr lang="ja-JP" altLang="en-US" sz="1400" b="1" spc="0" baseline="0">
                <a:ln/>
                <a:solidFill>
                  <a:srgbClr val="0D47A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1</a:t>
            </a:r>
            <a:r>
              <a:rPr lang="ja-JP" altLang="en-US" sz="14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層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145EA32-AFE5-76ED-D3BE-2A25880E0160}"/>
              </a:ext>
            </a:extLst>
          </p:cNvPr>
          <p:cNvSpPr txBox="1"/>
          <p:nvPr/>
        </p:nvSpPr>
        <p:spPr>
          <a:xfrm>
            <a:off x="762253" y="2209800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 spc="0" baseline="0">
                <a:ln/>
                <a:solidFill>
                  <a:srgbClr val="1565C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超成熟市場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9080278F-1AA1-5789-16FA-1AC574CB73C9}"/>
              </a:ext>
            </a:extLst>
          </p:cNvPr>
          <p:cNvSpPr txBox="1"/>
          <p:nvPr/>
        </p:nvSpPr>
        <p:spPr>
          <a:xfrm>
            <a:off x="2811780" y="14747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中国</a:t>
            </a: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15AB7B0-EC1A-545F-8AEE-65BCE6B4509D}"/>
              </a:ext>
            </a:extLst>
          </p:cNvPr>
          <p:cNvSpPr txBox="1"/>
          <p:nvPr/>
        </p:nvSpPr>
        <p:spPr>
          <a:xfrm>
            <a:off x="2430646" y="1700301"/>
            <a:ext cx="151195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cs typeface="Arial"/>
                <a:sym typeface="Arial"/>
                <a:rtl val="0"/>
              </a:rPr>
              <a:t>E-commerce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浸透率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86.4%</a:t>
            </a: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0A8A221-219E-DE70-4BC8-446B215F4D3D}"/>
              </a:ext>
            </a:extLst>
          </p:cNvPr>
          <p:cNvSpPr txBox="1"/>
          <p:nvPr/>
        </p:nvSpPr>
        <p:spPr>
          <a:xfrm>
            <a:off x="4796689" y="1430312"/>
            <a:ext cx="134844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Alibaba/Tmall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3583F494-C97F-3880-C829-F9245DA9184E}"/>
              </a:ext>
            </a:extLst>
          </p:cNvPr>
          <p:cNvSpPr txBox="1"/>
          <p:nvPr/>
        </p:nvSpPr>
        <p:spPr>
          <a:xfrm>
            <a:off x="4854470" y="1655303"/>
            <a:ext cx="11865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市場シェア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52.1%</a:t>
            </a: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FBD40CF3-4BD2-3DC1-4DD6-C05452192683}"/>
              </a:ext>
            </a:extLst>
          </p:cNvPr>
          <p:cNvSpPr txBox="1"/>
          <p:nvPr/>
        </p:nvSpPr>
        <p:spPr>
          <a:xfrm>
            <a:off x="4849004" y="1807703"/>
            <a:ext cx="1204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cs typeface="Arial"/>
                <a:sym typeface="Arial"/>
                <a:rtl val="0"/>
              </a:rPr>
              <a:t>GMV 8.3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兆人民元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0009DAED-2BB1-65B1-4E06-80FFB9117F60}"/>
              </a:ext>
            </a:extLst>
          </p:cNvPr>
          <p:cNvSpPr txBox="1"/>
          <p:nvPr/>
        </p:nvSpPr>
        <p:spPr>
          <a:xfrm>
            <a:off x="7200900" y="1525905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b="1" spc="0" baseline="0">
                <a:ln/>
                <a:solidFill>
                  <a:srgbClr val="F57F17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ハイブリッド戦略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3B549F0F-B4B9-8218-D256-6226DD715D0F}"/>
              </a:ext>
            </a:extLst>
          </p:cNvPr>
          <p:cNvSpPr txBox="1"/>
          <p:nvPr/>
        </p:nvSpPr>
        <p:spPr>
          <a:xfrm>
            <a:off x="7245317" y="1738401"/>
            <a:ext cx="13805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cs typeface="Arial"/>
                <a:sym typeface="Arial"/>
                <a:rtl val="0"/>
              </a:rPr>
              <a:t>MP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開放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+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決済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/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物流統合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2AC53C70-9854-0760-F961-E43FE77EE7E5}"/>
              </a:ext>
            </a:extLst>
          </p:cNvPr>
          <p:cNvSpPr txBox="1"/>
          <p:nvPr/>
        </p:nvSpPr>
        <p:spPr>
          <a:xfrm>
            <a:off x="10020300" y="1475898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超成熟市場の典型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593B92A-9D54-1832-6083-DCBFFB9C96DF}"/>
              </a:ext>
            </a:extLst>
          </p:cNvPr>
          <p:cNvSpPr txBox="1"/>
          <p:nvPr/>
        </p:nvSpPr>
        <p:spPr>
          <a:xfrm>
            <a:off x="10020300" y="1628298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収益多様化モデル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D7209309-FB64-F3C9-5928-0D2C4525A1BA}"/>
              </a:ext>
            </a:extLst>
          </p:cNvPr>
          <p:cNvSpPr txBox="1"/>
          <p:nvPr/>
        </p:nvSpPr>
        <p:spPr>
          <a:xfrm>
            <a:off x="10020233" y="1776501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広告収入</a:t>
            </a:r>
            <a:r>
              <a:rPr lang="ja-JP" altLang="en-US" sz="9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30%</a:t>
            </a:r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達成</a:t>
            </a: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0117A30F-67ED-8CE7-4884-F39453D55985}"/>
              </a:ext>
            </a:extLst>
          </p:cNvPr>
          <p:cNvSpPr/>
          <p:nvPr/>
        </p:nvSpPr>
        <p:spPr>
          <a:xfrm>
            <a:off x="1905000" y="22098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48C28F7-4763-4FA9-A216-A6F20C434503}"/>
              </a:ext>
            </a:extLst>
          </p:cNvPr>
          <p:cNvSpPr/>
          <p:nvPr/>
        </p:nvSpPr>
        <p:spPr>
          <a:xfrm>
            <a:off x="4191000" y="22098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751DA824-4779-B7AA-BC28-3BD6B6214C06}"/>
              </a:ext>
            </a:extLst>
          </p:cNvPr>
          <p:cNvSpPr/>
          <p:nvPr/>
        </p:nvSpPr>
        <p:spPr>
          <a:xfrm>
            <a:off x="6477000" y="22098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F7FEF693-38E1-6C09-DA46-3EA5CBD27891}"/>
              </a:ext>
            </a:extLst>
          </p:cNvPr>
          <p:cNvSpPr/>
          <p:nvPr/>
        </p:nvSpPr>
        <p:spPr>
          <a:xfrm>
            <a:off x="9144000" y="22098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17D40176-ED4B-20AC-6DAF-DB3B63D4BC56}"/>
              </a:ext>
            </a:extLst>
          </p:cNvPr>
          <p:cNvSpPr txBox="1"/>
          <p:nvPr/>
        </p:nvSpPr>
        <p:spPr>
          <a:xfrm>
            <a:off x="2811780" y="23891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韓国</a:t>
            </a:r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97974AC-E812-FE94-F5A8-3D81F837D16A}"/>
              </a:ext>
            </a:extLst>
          </p:cNvPr>
          <p:cNvSpPr txBox="1"/>
          <p:nvPr/>
        </p:nvSpPr>
        <p:spPr>
          <a:xfrm>
            <a:off x="2499360" y="2618898"/>
            <a:ext cx="13388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ロケット配送文化浸透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84E0E931-E8F1-011B-A35A-003E3116DCB9}"/>
              </a:ext>
            </a:extLst>
          </p:cNvPr>
          <p:cNvSpPr txBox="1"/>
          <p:nvPr/>
        </p:nvSpPr>
        <p:spPr>
          <a:xfrm>
            <a:off x="4945435" y="2344712"/>
            <a:ext cx="9589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Coupang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8F35F3A-7444-3E6B-5B56-DBF8325683FF}"/>
              </a:ext>
            </a:extLst>
          </p:cNvPr>
          <p:cNvSpPr txBox="1"/>
          <p:nvPr/>
        </p:nvSpPr>
        <p:spPr>
          <a:xfrm>
            <a:off x="4854470" y="2569703"/>
            <a:ext cx="11897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市場シェア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25.3%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C304114D-E3D3-4188-10E8-36DE5826DADB}"/>
              </a:ext>
            </a:extLst>
          </p:cNvPr>
          <p:cNvSpPr txBox="1"/>
          <p:nvPr/>
        </p:nvSpPr>
        <p:spPr>
          <a:xfrm>
            <a:off x="4848980" y="2722103"/>
            <a:ext cx="120417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売上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26.9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兆ウォン</a:t>
            </a: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2FC7DD3-6F8C-0AD9-8A20-953F52B82CD9}"/>
              </a:ext>
            </a:extLst>
          </p:cNvPr>
          <p:cNvSpPr txBox="1"/>
          <p:nvPr/>
        </p:nvSpPr>
        <p:spPr>
          <a:xfrm>
            <a:off x="7330440" y="2440305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b="1" spc="0" baseline="0">
                <a:ln/>
                <a:solidFill>
                  <a:srgbClr val="E6510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垂直統合戦略</a:t>
            </a: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9807E051-0848-68B4-16BE-CF56B86980AE}"/>
              </a:ext>
            </a:extLst>
          </p:cNvPr>
          <p:cNvSpPr txBox="1"/>
          <p:nvPr/>
        </p:nvSpPr>
        <p:spPr>
          <a:xfrm>
            <a:off x="7270611" y="2652801"/>
            <a:ext cx="13163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cs typeface="Arial"/>
                <a:sym typeface="Arial"/>
                <a:rtl val="0"/>
              </a:rPr>
              <a:t>1P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販売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70%+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自社物流</a:t>
            </a:r>
          </a:p>
        </p:txBody>
      </p: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FF85E460-7308-4DF0-C88A-233518D51C46}"/>
              </a:ext>
            </a:extLst>
          </p:cNvPr>
          <p:cNvSpPr txBox="1"/>
          <p:nvPr/>
        </p:nvSpPr>
        <p:spPr>
          <a:xfrm>
            <a:off x="10020300" y="2390298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徹底した垂直統合</a:t>
            </a:r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97764700-590D-6213-5C4E-F94C7ACB7073}"/>
              </a:ext>
            </a:extLst>
          </p:cNvPr>
          <p:cNvSpPr txBox="1"/>
          <p:nvPr/>
        </p:nvSpPr>
        <p:spPr>
          <a:xfrm>
            <a:off x="10111740" y="2542698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配送速度特化</a:t>
            </a:r>
          </a:p>
        </p:txBody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B889646B-EBE9-A725-F71D-B4544B8254AF}"/>
              </a:ext>
            </a:extLst>
          </p:cNvPr>
          <p:cNvSpPr txBox="1"/>
          <p:nvPr/>
        </p:nvSpPr>
        <p:spPr>
          <a:xfrm>
            <a:off x="10055750" y="2690901"/>
            <a:ext cx="10182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Arial"/>
                <a:cs typeface="Arial"/>
                <a:sym typeface="Arial"/>
                <a:rtl val="0"/>
              </a:rPr>
              <a:t>2023</a:t>
            </a:r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年黒字転換</a:t>
            </a: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52E9BF9C-C49E-B6D6-74CA-DB3507469C6A}"/>
              </a:ext>
            </a:extLst>
          </p:cNvPr>
          <p:cNvSpPr/>
          <p:nvPr/>
        </p:nvSpPr>
        <p:spPr>
          <a:xfrm>
            <a:off x="381000" y="3124200"/>
            <a:ext cx="1524000" cy="1828800"/>
          </a:xfrm>
          <a:prstGeom prst="rect">
            <a:avLst/>
          </a:prstGeom>
          <a:solidFill>
            <a:srgbClr val="90CAF9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2BC36DA7-4C3B-8C39-5BD8-B8E0BBEA74FB}"/>
              </a:ext>
            </a:extLst>
          </p:cNvPr>
          <p:cNvSpPr/>
          <p:nvPr/>
        </p:nvSpPr>
        <p:spPr>
          <a:xfrm>
            <a:off x="1905000" y="31242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781FFB0-3174-3830-DD63-28FAF4446B31}"/>
              </a:ext>
            </a:extLst>
          </p:cNvPr>
          <p:cNvSpPr/>
          <p:nvPr/>
        </p:nvSpPr>
        <p:spPr>
          <a:xfrm>
            <a:off x="4191000" y="31242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8C4A05E8-3C1A-043E-3868-96405627CE69}"/>
              </a:ext>
            </a:extLst>
          </p:cNvPr>
          <p:cNvSpPr/>
          <p:nvPr/>
        </p:nvSpPr>
        <p:spPr>
          <a:xfrm>
            <a:off x="6477000" y="31242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5448C2C-B72A-C057-AF22-637EFD722A20}"/>
              </a:ext>
            </a:extLst>
          </p:cNvPr>
          <p:cNvSpPr/>
          <p:nvPr/>
        </p:nvSpPr>
        <p:spPr>
          <a:xfrm>
            <a:off x="9144000" y="31242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8FD2799-7863-51CF-FB8E-3DE9DD7F89A5}"/>
              </a:ext>
            </a:extLst>
          </p:cNvPr>
          <p:cNvSpPr txBox="1"/>
          <p:nvPr/>
        </p:nvSpPr>
        <p:spPr>
          <a:xfrm>
            <a:off x="847981" y="3756665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第</a:t>
            </a:r>
            <a:r>
              <a:rPr lang="ja-JP" altLang="en-US" sz="1400" b="1" spc="0" baseline="0">
                <a:ln/>
                <a:solidFill>
                  <a:srgbClr val="0D47A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2</a:t>
            </a:r>
            <a:r>
              <a:rPr lang="ja-JP" altLang="en-US" sz="14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層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B7F0592-0F2F-A7E3-C2DC-9C7BCA3FBD65}"/>
              </a:ext>
            </a:extLst>
          </p:cNvPr>
          <p:cNvSpPr txBox="1"/>
          <p:nvPr/>
        </p:nvSpPr>
        <p:spPr>
          <a:xfrm>
            <a:off x="817542" y="3979654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 spc="0" baseline="0">
                <a:ln/>
                <a:solidFill>
                  <a:srgbClr val="1565C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成熟市場</a:t>
            </a:r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7D1B4031-516C-0C2C-D6A6-9D5EE7D70598}"/>
              </a:ext>
            </a:extLst>
          </p:cNvPr>
          <p:cNvSpPr txBox="1"/>
          <p:nvPr/>
        </p:nvSpPr>
        <p:spPr>
          <a:xfrm>
            <a:off x="2811780" y="33035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日本</a:t>
            </a:r>
          </a:p>
        </p:txBody>
      </p:sp>
      <p:sp>
        <p:nvSpPr>
          <p:cNvPr id="61" name="テキスト ボックス 60">
            <a:extLst>
              <a:ext uri="{FF2B5EF4-FFF2-40B4-BE49-F238E27FC236}">
                <a16:creationId xmlns:a16="http://schemas.microsoft.com/office/drawing/2014/main" id="{5505A0BB-6786-3998-EA8B-5A9369368371}"/>
              </a:ext>
            </a:extLst>
          </p:cNvPr>
          <p:cNvSpPr txBox="1"/>
          <p:nvPr/>
        </p:nvSpPr>
        <p:spPr>
          <a:xfrm>
            <a:off x="2590800" y="3533298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安定成長・多様化</a:t>
            </a: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4A8A1CC6-066C-3A8C-7BE6-0579ABDCDEA3}"/>
              </a:ext>
            </a:extLst>
          </p:cNvPr>
          <p:cNvSpPr txBox="1"/>
          <p:nvPr/>
        </p:nvSpPr>
        <p:spPr>
          <a:xfrm>
            <a:off x="5097780" y="32654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楽天</a:t>
            </a: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C420A92F-9C4E-7EBC-CB0B-A1156941E4C7}"/>
              </a:ext>
            </a:extLst>
          </p:cNvPr>
          <p:cNvSpPr txBox="1"/>
          <p:nvPr/>
        </p:nvSpPr>
        <p:spPr>
          <a:xfrm>
            <a:off x="4895777" y="3484103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国内シェア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30%</a:t>
            </a: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D22CAF89-215B-18A8-D06F-0F5E122E6408}"/>
              </a:ext>
            </a:extLst>
          </p:cNvPr>
          <p:cNvSpPr txBox="1"/>
          <p:nvPr/>
        </p:nvSpPr>
        <p:spPr>
          <a:xfrm>
            <a:off x="4777466" y="3636503"/>
            <a:ext cx="13869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会員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1.3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億アカウント</a:t>
            </a: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A0586188-2831-402C-4750-317B1359C34A}"/>
              </a:ext>
            </a:extLst>
          </p:cNvPr>
          <p:cNvSpPr txBox="1"/>
          <p:nvPr/>
        </p:nvSpPr>
        <p:spPr>
          <a:xfrm>
            <a:off x="7200900" y="3354705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b="1" spc="0" baseline="0">
                <a:ln/>
                <a:solidFill>
                  <a:srgbClr val="388E3C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エコシステム戦略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B0730A0E-9417-0C9D-EA3F-96BA8F5F7B46}"/>
              </a:ext>
            </a:extLst>
          </p:cNvPr>
          <p:cNvSpPr txBox="1"/>
          <p:nvPr/>
        </p:nvSpPr>
        <p:spPr>
          <a:xfrm>
            <a:off x="7230025" y="3567201"/>
            <a:ext cx="141897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楽天経済圏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70+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サービス</a:t>
            </a:r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B8C3D69-B3D8-E62A-BD9A-2BE0999748E3}"/>
              </a:ext>
            </a:extLst>
          </p:cNvPr>
          <p:cNvSpPr txBox="1"/>
          <p:nvPr/>
        </p:nvSpPr>
        <p:spPr>
          <a:xfrm>
            <a:off x="10020300" y="3304698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総合エコシステム</a:t>
            </a:r>
          </a:p>
        </p:txBody>
      </p: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BC3DF595-F3A5-A202-6F0C-B4F7B9E212C4}"/>
              </a:ext>
            </a:extLst>
          </p:cNvPr>
          <p:cNvSpPr txBox="1"/>
          <p:nvPr/>
        </p:nvSpPr>
        <p:spPr>
          <a:xfrm>
            <a:off x="10066020" y="3457098"/>
            <a:ext cx="992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金融・通信統合</a:t>
            </a:r>
          </a:p>
        </p:txBody>
      </p:sp>
      <p:sp>
        <p:nvSpPr>
          <p:cNvPr id="69" name="テキスト ボックス 68">
            <a:extLst>
              <a:ext uri="{FF2B5EF4-FFF2-40B4-BE49-F238E27FC236}">
                <a16:creationId xmlns:a16="http://schemas.microsoft.com/office/drawing/2014/main" id="{32ADAA48-E163-5AC1-6C01-D18A70C0216B}"/>
              </a:ext>
            </a:extLst>
          </p:cNvPr>
          <p:cNvSpPr txBox="1"/>
          <p:nvPr/>
        </p:nvSpPr>
        <p:spPr>
          <a:xfrm>
            <a:off x="9974580" y="3609498"/>
            <a:ext cx="12234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ローカル特化モデル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B2055486-C7A6-F129-BD65-BC664980166C}"/>
              </a:ext>
            </a:extLst>
          </p:cNvPr>
          <p:cNvSpPr/>
          <p:nvPr/>
        </p:nvSpPr>
        <p:spPr>
          <a:xfrm>
            <a:off x="1905000" y="40386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2C245746-7D7E-22B1-6FE0-03CE442BEC4B}"/>
              </a:ext>
            </a:extLst>
          </p:cNvPr>
          <p:cNvSpPr/>
          <p:nvPr/>
        </p:nvSpPr>
        <p:spPr>
          <a:xfrm>
            <a:off x="4191000" y="40386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0CC0ED64-C0ED-C10A-C881-88A50DB0C74E}"/>
              </a:ext>
            </a:extLst>
          </p:cNvPr>
          <p:cNvSpPr/>
          <p:nvPr/>
        </p:nvSpPr>
        <p:spPr>
          <a:xfrm>
            <a:off x="6477000" y="40386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3F37BF50-AC89-6770-E24D-652B733C4563}"/>
              </a:ext>
            </a:extLst>
          </p:cNvPr>
          <p:cNvSpPr/>
          <p:nvPr/>
        </p:nvSpPr>
        <p:spPr>
          <a:xfrm>
            <a:off x="9144000" y="40386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B2B09EC7-6A21-11F7-2EDF-A3B3086FBDC8}"/>
              </a:ext>
            </a:extLst>
          </p:cNvPr>
          <p:cNvSpPr txBox="1"/>
          <p:nvPr/>
        </p:nvSpPr>
        <p:spPr>
          <a:xfrm>
            <a:off x="2811780" y="4217908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日本</a:t>
            </a: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5EA3CA0F-437D-32C9-E52A-96C7ADFC8F12}"/>
              </a:ext>
            </a:extLst>
          </p:cNvPr>
          <p:cNvSpPr txBox="1"/>
          <p:nvPr/>
        </p:nvSpPr>
        <p:spPr>
          <a:xfrm>
            <a:off x="2545080" y="4447698"/>
            <a:ext cx="12234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グローバル適応対象</a:t>
            </a:r>
          </a:p>
        </p:txBody>
      </p: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1E8B0F63-5457-9846-02E8-262F2E30DDED}"/>
              </a:ext>
            </a:extLst>
          </p:cNvPr>
          <p:cNvSpPr txBox="1"/>
          <p:nvPr/>
        </p:nvSpPr>
        <p:spPr>
          <a:xfrm>
            <a:off x="4758582" y="4173512"/>
            <a:ext cx="14478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Amazon Japan</a:t>
            </a: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C392CF2D-EE79-5ED7-FD41-C63D3F8B6323}"/>
              </a:ext>
            </a:extLst>
          </p:cNvPr>
          <p:cNvSpPr txBox="1"/>
          <p:nvPr/>
        </p:nvSpPr>
        <p:spPr>
          <a:xfrm>
            <a:off x="4917833" y="4398503"/>
            <a:ext cx="102463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推定売上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3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兆円</a:t>
            </a:r>
          </a:p>
        </p:txBody>
      </p:sp>
      <p:sp>
        <p:nvSpPr>
          <p:cNvPr id="78" name="テキスト ボックス 77">
            <a:extLst>
              <a:ext uri="{FF2B5EF4-FFF2-40B4-BE49-F238E27FC236}">
                <a16:creationId xmlns:a16="http://schemas.microsoft.com/office/drawing/2014/main" id="{5BD45AAA-06FB-7672-C153-538977AEA3E2}"/>
              </a:ext>
            </a:extLst>
          </p:cNvPr>
          <p:cNvSpPr txBox="1"/>
          <p:nvPr/>
        </p:nvSpPr>
        <p:spPr>
          <a:xfrm>
            <a:off x="4791154" y="4550903"/>
            <a:ext cx="135325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cs typeface="Arial"/>
                <a:sym typeface="Arial"/>
                <a:rtl val="0"/>
              </a:rPr>
              <a:t>Prime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会員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1,500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万人</a:t>
            </a:r>
          </a:p>
        </p:txBody>
      </p:sp>
      <p:sp>
        <p:nvSpPr>
          <p:cNvPr id="79" name="テキスト ボックス 78">
            <a:extLst>
              <a:ext uri="{FF2B5EF4-FFF2-40B4-BE49-F238E27FC236}">
                <a16:creationId xmlns:a16="http://schemas.microsoft.com/office/drawing/2014/main" id="{FC8666FA-B929-A3CD-F05D-7B958213B65A}"/>
              </a:ext>
            </a:extLst>
          </p:cNvPr>
          <p:cNvSpPr txBox="1"/>
          <p:nvPr/>
        </p:nvSpPr>
        <p:spPr>
          <a:xfrm>
            <a:off x="7265670" y="4269105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b="1" spc="0" baseline="0">
                <a:ln/>
                <a:solidFill>
                  <a:srgbClr val="7B1FA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グローバル適応</a:t>
            </a:r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EC4A6A5B-96B1-2B8C-9DB1-B25FA1E170D0}"/>
              </a:ext>
            </a:extLst>
          </p:cNvPr>
          <p:cNvSpPr txBox="1"/>
          <p:nvPr/>
        </p:nvSpPr>
        <p:spPr>
          <a:xfrm>
            <a:off x="7275745" y="4481601"/>
            <a:ext cx="130356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ハイブリッド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(1P+3P)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91FC4B8D-2E44-FDE8-71C8-B923A54A117E}"/>
              </a:ext>
            </a:extLst>
          </p:cNvPr>
          <p:cNvSpPr txBox="1"/>
          <p:nvPr/>
        </p:nvSpPr>
        <p:spPr>
          <a:xfrm>
            <a:off x="10066020" y="4219098"/>
            <a:ext cx="992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標準モデル適応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AD68ACA8-05E6-EEDC-714A-22A81F826020}"/>
              </a:ext>
            </a:extLst>
          </p:cNvPr>
          <p:cNvSpPr txBox="1"/>
          <p:nvPr/>
        </p:nvSpPr>
        <p:spPr>
          <a:xfrm>
            <a:off x="10066020" y="4371498"/>
            <a:ext cx="992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コンビニ受取等</a:t>
            </a:r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17D8F2E5-50BD-E522-24F9-F10D88251C40}"/>
              </a:ext>
            </a:extLst>
          </p:cNvPr>
          <p:cNvSpPr txBox="1"/>
          <p:nvPr/>
        </p:nvSpPr>
        <p:spPr>
          <a:xfrm>
            <a:off x="10020300" y="4523898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ローカライズ対応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52356F01-A6D7-0A72-815E-3EF98AC95390}"/>
              </a:ext>
            </a:extLst>
          </p:cNvPr>
          <p:cNvSpPr/>
          <p:nvPr/>
        </p:nvSpPr>
        <p:spPr>
          <a:xfrm>
            <a:off x="381000" y="4953000"/>
            <a:ext cx="1524000" cy="914400"/>
          </a:xfrm>
          <a:prstGeom prst="rect">
            <a:avLst/>
          </a:prstGeom>
          <a:solidFill>
            <a:srgbClr val="64B5F6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A8FF7D2C-FB2A-1358-86A6-DA3C00E51F43}"/>
              </a:ext>
            </a:extLst>
          </p:cNvPr>
          <p:cNvSpPr/>
          <p:nvPr/>
        </p:nvSpPr>
        <p:spPr>
          <a:xfrm>
            <a:off x="1905000" y="49530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32ED8C55-8DB7-2E54-89C7-5A3449AE32E0}"/>
              </a:ext>
            </a:extLst>
          </p:cNvPr>
          <p:cNvSpPr/>
          <p:nvPr/>
        </p:nvSpPr>
        <p:spPr>
          <a:xfrm>
            <a:off x="4191000" y="4953000"/>
            <a:ext cx="2286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DFA74219-F5C9-BC3A-5492-590B04A9D5F2}"/>
              </a:ext>
            </a:extLst>
          </p:cNvPr>
          <p:cNvSpPr/>
          <p:nvPr/>
        </p:nvSpPr>
        <p:spPr>
          <a:xfrm>
            <a:off x="6477000" y="49530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CBCCD44A-F2A5-B8A3-1638-825BFA3529B5}"/>
              </a:ext>
            </a:extLst>
          </p:cNvPr>
          <p:cNvSpPr/>
          <p:nvPr/>
        </p:nvSpPr>
        <p:spPr>
          <a:xfrm>
            <a:off x="9144000" y="4953000"/>
            <a:ext cx="2667000" cy="914400"/>
          </a:xfrm>
          <a:prstGeom prst="rect">
            <a:avLst/>
          </a:prstGeom>
          <a:solidFill>
            <a:srgbClr val="E3F2FD"/>
          </a:solidFill>
          <a:ln w="7620" cap="flat">
            <a:solidFill>
              <a:srgbClr val="1976D2"/>
            </a:solidFill>
            <a:prstDash val="solid"/>
            <a:miter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4E6E203E-566D-EEDD-7D74-3519E5681DF7}"/>
              </a:ext>
            </a:extLst>
          </p:cNvPr>
          <p:cNvSpPr txBox="1"/>
          <p:nvPr/>
        </p:nvSpPr>
        <p:spPr>
          <a:xfrm>
            <a:off x="868639" y="5126012"/>
            <a:ext cx="643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第</a:t>
            </a:r>
            <a:r>
              <a:rPr lang="ja-JP" altLang="en-US" sz="1400" b="1" spc="0" baseline="0">
                <a:ln/>
                <a:solidFill>
                  <a:srgbClr val="0D47A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3</a:t>
            </a:r>
            <a:r>
              <a:rPr lang="ja-JP" altLang="en-US" sz="1400" b="1" spc="0" baseline="0">
                <a:ln/>
                <a:solidFill>
                  <a:srgbClr val="0D47A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層</a:t>
            </a:r>
          </a:p>
        </p:txBody>
      </p:sp>
      <p:sp>
        <p:nvSpPr>
          <p:cNvPr id="90" name="テキスト ボックス 89">
            <a:extLst>
              <a:ext uri="{FF2B5EF4-FFF2-40B4-BE49-F238E27FC236}">
                <a16:creationId xmlns:a16="http://schemas.microsoft.com/office/drawing/2014/main" id="{B9958B8D-63FC-ECF3-D864-72CA1DC268B3}"/>
              </a:ext>
            </a:extLst>
          </p:cNvPr>
          <p:cNvSpPr txBox="1"/>
          <p:nvPr/>
        </p:nvSpPr>
        <p:spPr>
          <a:xfrm>
            <a:off x="784860" y="5349001"/>
            <a:ext cx="85792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50" spc="0" baseline="0">
                <a:ln/>
                <a:solidFill>
                  <a:srgbClr val="1565C0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急成長市場</a:t>
            </a: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94ADA8FE-7B42-1481-8DE8-F4E0F33816FC}"/>
              </a:ext>
            </a:extLst>
          </p:cNvPr>
          <p:cNvSpPr txBox="1"/>
          <p:nvPr/>
        </p:nvSpPr>
        <p:spPr>
          <a:xfrm>
            <a:off x="2739390" y="5132308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インド</a:t>
            </a:r>
          </a:p>
        </p:txBody>
      </p:sp>
      <p:sp>
        <p:nvSpPr>
          <p:cNvPr id="92" name="テキスト ボックス 91">
            <a:extLst>
              <a:ext uri="{FF2B5EF4-FFF2-40B4-BE49-F238E27FC236}">
                <a16:creationId xmlns:a16="http://schemas.microsoft.com/office/drawing/2014/main" id="{DC209A60-696E-C9E1-D21E-7C78E35E9720}"/>
              </a:ext>
            </a:extLst>
          </p:cNvPr>
          <p:cNvSpPr txBox="1"/>
          <p:nvPr/>
        </p:nvSpPr>
        <p:spPr>
          <a:xfrm>
            <a:off x="2616093" y="5357901"/>
            <a:ext cx="10438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年成長率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20-25%</a:t>
            </a: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01229011-5E25-38FA-FEAF-BA6428C9F5D8}"/>
              </a:ext>
            </a:extLst>
          </p:cNvPr>
          <p:cNvSpPr txBox="1"/>
          <p:nvPr/>
        </p:nvSpPr>
        <p:spPr>
          <a:xfrm>
            <a:off x="4994861" y="5087912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400" b="1" spc="0" baseline="0">
                <a:ln/>
                <a:solidFill>
                  <a:srgbClr val="1A1A1A"/>
                </a:solidFill>
                <a:latin typeface="Arial"/>
                <a:cs typeface="Arial"/>
                <a:sym typeface="Arial"/>
                <a:rtl val="0"/>
              </a:rPr>
              <a:t>Flipkart</a:t>
            </a:r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9924DD55-2572-36FE-354E-EB79B4C87B42}"/>
              </a:ext>
            </a:extLst>
          </p:cNvPr>
          <p:cNvSpPr txBox="1"/>
          <p:nvPr/>
        </p:nvSpPr>
        <p:spPr>
          <a:xfrm>
            <a:off x="4895777" y="5312903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市場シェア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48%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D04089A6-57AB-C2B4-A401-A96F4C42B876}"/>
              </a:ext>
            </a:extLst>
          </p:cNvPr>
          <p:cNvSpPr txBox="1"/>
          <p:nvPr/>
        </p:nvSpPr>
        <p:spPr>
          <a:xfrm>
            <a:off x="4960422" y="5465303"/>
            <a:ext cx="9156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販売者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50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万</a:t>
            </a:r>
            <a:r>
              <a:rPr lang="ja-JP" altLang="en-US" sz="1000" spc="0" baseline="0">
                <a:ln/>
                <a:solidFill>
                  <a:srgbClr val="424242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+</a:t>
            </a:r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D39999C2-A1CC-C7C7-068B-A3E234346FF0}"/>
              </a:ext>
            </a:extLst>
          </p:cNvPr>
          <p:cNvSpPr txBox="1"/>
          <p:nvPr/>
        </p:nvSpPr>
        <p:spPr>
          <a:xfrm>
            <a:off x="7200900" y="5183505"/>
            <a:ext cx="14157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1200" b="1" spc="0" baseline="0">
                <a:ln/>
                <a:solidFill>
                  <a:srgbClr val="388E3C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エコシステム開放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68BBC591-6FED-06BB-EEFF-E1D35011F280}"/>
              </a:ext>
            </a:extLst>
          </p:cNvPr>
          <p:cNvSpPr txBox="1"/>
          <p:nvPr/>
        </p:nvSpPr>
        <p:spPr>
          <a:xfrm>
            <a:off x="7364685" y="5396001"/>
            <a:ext cx="107914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完全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MP+UPI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統合</a:t>
            </a: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EBC0A529-FF54-3F2C-7FF6-845431EF6045}"/>
              </a:ext>
            </a:extLst>
          </p:cNvPr>
          <p:cNvSpPr txBox="1"/>
          <p:nvPr/>
        </p:nvSpPr>
        <p:spPr>
          <a:xfrm>
            <a:off x="10066020" y="5133498"/>
            <a:ext cx="992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急成長市場典型</a:t>
            </a:r>
          </a:p>
        </p:txBody>
      </p: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51C5AE32-8FD8-BF57-4279-A7DBEC947887}"/>
              </a:ext>
            </a:extLst>
          </p:cNvPr>
          <p:cNvSpPr txBox="1"/>
          <p:nvPr/>
        </p:nvSpPr>
        <p:spPr>
          <a:xfrm>
            <a:off x="10066020" y="5285898"/>
            <a:ext cx="9925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sym typeface="ＭＳ ゴシック"/>
                <a:rtl val="0"/>
              </a:rPr>
              <a:t>シェア獲得優先</a:t>
            </a:r>
          </a:p>
        </p:txBody>
      </p:sp>
      <p:sp>
        <p:nvSpPr>
          <p:cNvPr id="100" name="テキスト ボックス 99">
            <a:extLst>
              <a:ext uri="{FF2B5EF4-FFF2-40B4-BE49-F238E27FC236}">
                <a16:creationId xmlns:a16="http://schemas.microsoft.com/office/drawing/2014/main" id="{D0FB4686-23D8-00E8-B6A3-14A9C52FACB2}"/>
              </a:ext>
            </a:extLst>
          </p:cNvPr>
          <p:cNvSpPr txBox="1"/>
          <p:nvPr/>
        </p:nvSpPr>
        <p:spPr>
          <a:xfrm>
            <a:off x="10155718" y="5434101"/>
            <a:ext cx="7745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424242"/>
                </a:solidFill>
                <a:latin typeface="Arial"/>
                <a:cs typeface="Arial"/>
                <a:sym typeface="Arial"/>
                <a:rtl val="0"/>
              </a:rPr>
              <a:t>11</a:t>
            </a:r>
            <a:r>
              <a:rPr lang="ja-JP" altLang="en-US" sz="900" spc="0" baseline="0">
                <a:ln/>
                <a:solidFill>
                  <a:srgbClr val="424242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言語対応</a:t>
            </a:r>
          </a:p>
        </p:txBody>
      </p:sp>
      <p:sp>
        <p:nvSpPr>
          <p:cNvPr id="101" name="テキスト ボックス 100">
            <a:extLst>
              <a:ext uri="{FF2B5EF4-FFF2-40B4-BE49-F238E27FC236}">
                <a16:creationId xmlns:a16="http://schemas.microsoft.com/office/drawing/2014/main" id="{8982FFB2-048E-1B23-9AFE-2393BF314415}"/>
              </a:ext>
            </a:extLst>
          </p:cNvPr>
          <p:cNvSpPr txBox="1"/>
          <p:nvPr/>
        </p:nvSpPr>
        <p:spPr>
          <a:xfrm>
            <a:off x="374624" y="6020469"/>
            <a:ext cx="66223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注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: 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第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4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層（新興市場）として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Sea Limited/Shopee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（東南アジア）、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Tokopedia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（インドネシア）も選定（詳細は本文参照）。</a:t>
            </a:r>
          </a:p>
        </p:txBody>
      </p:sp>
      <p:sp>
        <p:nvSpPr>
          <p:cNvPr id="102" name="テキスト ボックス 101">
            <a:extLst>
              <a:ext uri="{FF2B5EF4-FFF2-40B4-BE49-F238E27FC236}">
                <a16:creationId xmlns:a16="http://schemas.microsoft.com/office/drawing/2014/main" id="{E9B36A9B-3E1C-6B3D-BA0B-349845020DF1}"/>
              </a:ext>
            </a:extLst>
          </p:cNvPr>
          <p:cNvSpPr txBox="1"/>
          <p:nvPr/>
        </p:nvSpPr>
        <p:spPr>
          <a:xfrm>
            <a:off x="374624" y="6210969"/>
            <a:ext cx="966161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sym typeface="ＭＳ ゴシック"/>
                <a:rtl val="0"/>
              </a:rPr>
              <a:t>戦略パターン分類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: 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ハイブリッド（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MP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開放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+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部分統合）、垂直統合（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1P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主体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+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自社インフラ）、エコシステム（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MP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開放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+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サービス統合）、グローバル適応（標準モデル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+</a:t>
            </a:r>
            <a:r>
              <a:rPr lang="ja-JP" altLang="en-US" sz="900" spc="0" baseline="0">
                <a:ln/>
                <a:solidFill>
                  <a:srgbClr val="616161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ローカライズ）</a:t>
            </a:r>
          </a:p>
        </p:txBody>
      </p:sp>
      <p:sp>
        <p:nvSpPr>
          <p:cNvPr id="103" name="テキスト ボックス 102">
            <a:extLst>
              <a:ext uri="{FF2B5EF4-FFF2-40B4-BE49-F238E27FC236}">
                <a16:creationId xmlns:a16="http://schemas.microsoft.com/office/drawing/2014/main" id="{806B2177-D693-9E27-C5A0-2953F8FAD082}"/>
              </a:ext>
            </a:extLst>
          </p:cNvPr>
          <p:cNvSpPr txBox="1"/>
          <p:nvPr/>
        </p:nvSpPr>
        <p:spPr>
          <a:xfrm>
            <a:off x="374624" y="6470771"/>
            <a:ext cx="313419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ja-JP" altLang="en-US" sz="900" i="1" spc="0" baseline="0">
                <a:ln/>
                <a:solidFill>
                  <a:srgbClr val="757575"/>
                </a:solidFill>
                <a:latin typeface="ＭＳ ゴシック"/>
                <a:ea typeface="ＭＳ ゴシック"/>
                <a:sym typeface="ＭＳ ゴシック"/>
                <a:rtl val="0"/>
              </a:rPr>
              <a:t>出典</a:t>
            </a:r>
            <a:r>
              <a:rPr lang="ja-JP" altLang="en-US" sz="900" i="1" spc="0" baseline="0">
                <a:ln/>
                <a:solidFill>
                  <a:srgbClr val="757575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: </a:t>
            </a:r>
            <a:r>
              <a:rPr lang="ja-JP" altLang="en-US" sz="900" i="1" spc="0" baseline="0">
                <a:ln/>
                <a:solidFill>
                  <a:srgbClr val="757575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各社</a:t>
            </a:r>
            <a:r>
              <a:rPr lang="ja-JP" altLang="en-US" sz="900" i="1" spc="0" baseline="0">
                <a:ln/>
                <a:solidFill>
                  <a:srgbClr val="757575"/>
                </a:solidFill>
                <a:latin typeface="Arial"/>
                <a:ea typeface="ＭＳ ゴシック"/>
                <a:cs typeface="Arial"/>
                <a:sym typeface="Arial"/>
                <a:rtl val="0"/>
              </a:rPr>
              <a:t>IR</a:t>
            </a:r>
            <a:r>
              <a:rPr lang="ja-JP" altLang="en-US" sz="900" i="1" spc="0" baseline="0">
                <a:ln/>
                <a:solidFill>
                  <a:srgbClr val="757575"/>
                </a:solidFill>
                <a:latin typeface="ＭＳ ゴシック"/>
                <a:ea typeface="ＭＳ ゴシック"/>
                <a:cs typeface="Arial"/>
                <a:sym typeface="ＭＳ ゴシック"/>
                <a:rtl val="0"/>
              </a:rPr>
              <a:t>資料、財務報告、業界レポートより筆者作成</a:t>
            </a:r>
          </a:p>
        </p:txBody>
      </p:sp>
    </p:spTree>
    <p:extLst>
      <p:ext uri="{BB962C8B-B14F-4D97-AF65-F5344CB8AC3E}">
        <p14:creationId xmlns:p14="http://schemas.microsoft.com/office/powerpoint/2010/main" val="2814527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33696-88E3-FE07-4660-1EF32BE6B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A0A4A5F9-43DE-47E8-1EDF-CF5C3413C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" y="609"/>
            <a:ext cx="12193087" cy="685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851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グラフィックス 2">
            <a:extLst>
              <a:ext uri="{FF2B5EF4-FFF2-40B4-BE49-F238E27FC236}">
                <a16:creationId xmlns:a16="http://schemas.microsoft.com/office/drawing/2014/main" id="{25F5A48E-E636-6F2A-568E-3E43C395D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48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445</Words>
  <Application>Microsoft Macintosh PowerPoint</Application>
  <PresentationFormat>ワイド画面</PresentationFormat>
  <Paragraphs>117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ＭＳ 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崔　光</dc:creator>
  <cp:lastModifiedBy>崔　光</cp:lastModifiedBy>
  <cp:revision>1</cp:revision>
  <dcterms:created xsi:type="dcterms:W3CDTF">2025-11-23T08:09:57Z</dcterms:created>
  <dcterms:modified xsi:type="dcterms:W3CDTF">2025-11-23T08:22:01Z</dcterms:modified>
</cp:coreProperties>
</file>